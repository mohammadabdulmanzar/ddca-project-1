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221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eemavarapu Sandeep" userId="e726bd07d3e21583" providerId="LiveId" clId="{D1F704B6-C50A-4B02-97E1-02B0B3D270F9}"/>
    <pc:docChg chg="modSld">
      <pc:chgData name="Bheemavarapu Sandeep" userId="e726bd07d3e21583" providerId="LiveId" clId="{D1F704B6-C50A-4B02-97E1-02B0B3D270F9}" dt="2026-10-14T16:46:54.070" v="351" actId="113"/>
      <pc:docMkLst>
        <pc:docMk/>
      </pc:docMkLst>
      <pc:sldChg chg="addSp modSp mod">
        <pc:chgData name="Bheemavarapu Sandeep" userId="e726bd07d3e21583" providerId="LiveId" clId="{D1F704B6-C50A-4B02-97E1-02B0B3D270F9}" dt="2026-10-14T16:46:54.070" v="351" actId="113"/>
        <pc:sldMkLst>
          <pc:docMk/>
          <pc:sldMk cId="0" sldId="256"/>
        </pc:sldMkLst>
        <pc:spChg chg="add mod">
          <ac:chgData name="Bheemavarapu Sandeep" userId="e726bd07d3e21583" providerId="LiveId" clId="{D1F704B6-C50A-4B02-97E1-02B0B3D270F9}" dt="2026-10-14T16:37:52.723" v="4" actId="767"/>
          <ac:spMkLst>
            <pc:docMk/>
            <pc:sldMk cId="0" sldId="256"/>
            <ac:spMk id="5" creationId="{110CF073-00C2-5CBE-2291-829E9B5D51D2}"/>
          </ac:spMkLst>
        </pc:spChg>
        <pc:spChg chg="mod">
          <ac:chgData name="Bheemavarapu Sandeep" userId="e726bd07d3e21583" providerId="LiveId" clId="{D1F704B6-C50A-4B02-97E1-02B0B3D270F9}" dt="2026-10-05T05:34:36.947" v="0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Bheemavarapu Sandeep" userId="e726bd07d3e21583" providerId="LiveId" clId="{D1F704B6-C50A-4B02-97E1-02B0B3D270F9}" dt="2026-10-14T16:46:54.070" v="351" actId="113"/>
          <ac:spMkLst>
            <pc:docMk/>
            <pc:sldMk cId="0" sldId="256"/>
            <ac:spMk id="19" creationId="{D1469578-43BA-77F2-8004-6B45FDC9594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-1005840"/>
            <a:ext cx="4297680" cy="4297680"/>
          </a:xfrm>
          <a:prstGeom prst="ellipse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4389120"/>
            <a:ext cx="3291840" cy="3291840"/>
          </a:xfrm>
          <a:prstGeom prst="ellipse">
            <a:avLst/>
          </a:prstGeom>
          <a:solidFill>
            <a:srgbClr val="ED6F5C"/>
          </a:solidFill>
          <a:ln>
            <a:solidFill>
              <a:srgbClr val="ED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4937760"/>
            <a:ext cx="914400" cy="914400"/>
          </a:xfrm>
          <a:prstGeom prst="ellipse">
            <a:avLst/>
          </a:prstGeom>
          <a:solidFill>
            <a:srgbClr val="F4BE4B"/>
          </a:solidFill>
          <a:ln>
            <a:solidFill>
              <a:srgbClr val="F4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594777"/>
            <a:ext cx="7863840" cy="193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800" b="1">
                <a:solidFill>
                  <a:srgbClr val="122644"/>
                </a:solidFill>
                <a:latin typeface="Aptos Display"/>
              </a:defRPr>
            </a:pPr>
            <a:r>
              <a:rPr lang="en-US" sz="4000" b="1" dirty="0">
                <a:solidFill>
                  <a:srgbClr val="FFFFFF"/>
                </a:solidFill>
                <a:latin typeface="Aptos"/>
              </a:rPr>
              <a:t>The Design and Simulation of a
Digital Data Transmission
Error Detection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325880"/>
            <a:ext cx="2286000" cy="658368"/>
          </a:xfrm>
          <a:prstGeom prst="roundRect">
            <a:avLst/>
          </a:prstGeom>
          <a:solidFill>
            <a:srgbClr val="F4BE4B"/>
          </a:solidFill>
          <a:ln>
            <a:solidFill>
              <a:srgbClr val="F4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1435607"/>
            <a:ext cx="22860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4253D"/>
                </a:solidFill>
                <a:latin typeface="Aptos"/>
              </a:rPr>
              <a:t>XOR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235440" y="1984248"/>
            <a:ext cx="502920" cy="384048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66760" y="2441448"/>
            <a:ext cx="2286000" cy="658368"/>
          </a:xfrm>
          <a:prstGeom prst="roundRect">
            <a:avLst/>
          </a:prstGeom>
          <a:solidFill>
            <a:srgbClr val="CDEFE7"/>
          </a:solidFill>
          <a:ln>
            <a:solidFill>
              <a:srgbClr val="CD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2551176"/>
            <a:ext cx="22860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4253D"/>
                </a:solidFill>
                <a:latin typeface="Aptos"/>
              </a:rPr>
              <a:t>DATA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235440" y="3099815"/>
            <a:ext cx="502920" cy="384048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66760" y="3557015"/>
            <a:ext cx="2286000" cy="658368"/>
          </a:xfrm>
          <a:prstGeom prst="roundRect">
            <a:avLst/>
          </a:prstGeom>
          <a:solidFill>
            <a:srgbClr val="ED6F5C"/>
          </a:solidFill>
          <a:ln>
            <a:solidFill>
              <a:srgbClr val="ED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666744"/>
            <a:ext cx="22860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4253D"/>
                </a:solidFill>
                <a:latin typeface="Aptos"/>
              </a:rPr>
              <a:t>CHECK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469578-43BA-77F2-8004-6B45FDC95941}"/>
              </a:ext>
            </a:extLst>
          </p:cNvPr>
          <p:cNvSpPr txBox="1"/>
          <p:nvPr/>
        </p:nvSpPr>
        <p:spPr>
          <a:xfrm>
            <a:off x="274320" y="3198822"/>
            <a:ext cx="661111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IN" sz="2000" b="1" dirty="0">
                <a:solidFill>
                  <a:schemeClr val="bg1"/>
                </a:solidFill>
              </a:rPr>
              <a:t>Title : </a:t>
            </a:r>
            <a:r>
              <a:rPr lang="en-IN" sz="2000" dirty="0">
                <a:solidFill>
                  <a:schemeClr val="bg1"/>
                </a:solidFill>
              </a:rPr>
              <a:t>Digital Data Transmission Error Detection System</a:t>
            </a:r>
          </a:p>
          <a:p>
            <a:pPr>
              <a:defRPr sz="2000"/>
            </a:pPr>
            <a:r>
              <a:rPr lang="en-IN" sz="2000" b="1" dirty="0">
                <a:solidFill>
                  <a:schemeClr val="bg1"/>
                </a:solidFill>
              </a:rPr>
              <a:t>Team members:</a:t>
            </a:r>
          </a:p>
          <a:p>
            <a:pPr>
              <a:defRPr sz="2000"/>
            </a:pPr>
            <a:r>
              <a:rPr lang="en-IN" sz="2000" dirty="0">
                <a:solidFill>
                  <a:schemeClr val="bg1"/>
                </a:solidFill>
              </a:rPr>
              <a:t>Nihal Rahas :         2620030197</a:t>
            </a:r>
          </a:p>
          <a:p>
            <a:pPr>
              <a:defRPr sz="2000"/>
            </a:pPr>
            <a:r>
              <a:rPr lang="en-IN" sz="2000" dirty="0">
                <a:solidFill>
                  <a:schemeClr val="bg1"/>
                </a:solidFill>
              </a:rPr>
              <a:t>Sandeep       :         2620090082</a:t>
            </a:r>
          </a:p>
          <a:p>
            <a:pPr>
              <a:defRPr sz="2000"/>
            </a:pPr>
            <a:r>
              <a:rPr lang="en-IN" sz="2000" dirty="0">
                <a:solidFill>
                  <a:schemeClr val="bg1"/>
                </a:solidFill>
              </a:rPr>
              <a:t>Manzar         :         2620030203</a:t>
            </a:r>
          </a:p>
          <a:p>
            <a:pPr>
              <a:defRPr sz="2000"/>
            </a:pPr>
            <a:r>
              <a:rPr lang="en-IN" sz="2000" dirty="0">
                <a:solidFill>
                  <a:schemeClr val="bg1"/>
                </a:solidFill>
              </a:rPr>
              <a:t>Rithesh         :         2620030439</a:t>
            </a:r>
          </a:p>
          <a:p>
            <a:pPr>
              <a:defRPr sz="2000"/>
            </a:pPr>
            <a:r>
              <a:rPr lang="en-IN" sz="2000" b="1" dirty="0">
                <a:solidFill>
                  <a:schemeClr val="bg1"/>
                </a:solidFill>
              </a:rPr>
              <a:t>Guide: </a:t>
            </a:r>
            <a:r>
              <a:rPr lang="en-IN" sz="2000" dirty="0">
                <a:solidFill>
                  <a:schemeClr val="bg1"/>
                </a:solidFill>
              </a:rPr>
              <a:t>Dr. Venkanna </a:t>
            </a:r>
            <a:r>
              <a:rPr lang="en-IN" sz="2000" dirty="0" err="1">
                <a:solidFill>
                  <a:schemeClr val="bg1"/>
                </a:solidFill>
              </a:rPr>
              <a:t>Isampalli</a:t>
            </a:r>
            <a:endParaRPr lang="en-IN" sz="2000" dirty="0">
              <a:solidFill>
                <a:schemeClr val="bg1"/>
              </a:solidFill>
            </a:endParaRPr>
          </a:p>
          <a:p>
            <a:pPr>
              <a:defRPr sz="2000"/>
            </a:pPr>
            <a:r>
              <a:rPr lang="en-IN" sz="2000" dirty="0">
                <a:solidFill>
                  <a:schemeClr val="bg1"/>
                </a:solidFill>
              </a:rPr>
              <a:t>Department of Freshman Engineering Department</a:t>
            </a:r>
          </a:p>
          <a:p>
            <a:pPr>
              <a:defRPr sz="2000"/>
            </a:pPr>
            <a:r>
              <a:rPr lang="en-IN" sz="2000" dirty="0">
                <a:solidFill>
                  <a:schemeClr val="bg1"/>
                </a:solidFill>
              </a:rPr>
              <a:t>Koneru Lakshmaiah Education Foundation</a:t>
            </a:r>
          </a:p>
          <a:p>
            <a:pPr>
              <a:defRPr sz="2000"/>
            </a:pPr>
            <a:r>
              <a:rPr lang="en-IN" sz="2000" b="1" dirty="0">
                <a:solidFill>
                  <a:schemeClr val="bg1"/>
                </a:solidFill>
              </a:rPr>
              <a:t>Academic Year : </a:t>
            </a:r>
            <a:r>
              <a:rPr lang="en-IN" sz="2000" dirty="0">
                <a:solidFill>
                  <a:schemeClr val="bg1"/>
                </a:solidFill>
              </a:rPr>
              <a:t>2026-27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CF073-00C2-5CBE-2291-829E9B5D51D2}"/>
              </a:ext>
            </a:extLst>
          </p:cNvPr>
          <p:cNvSpPr txBox="1"/>
          <p:nvPr/>
        </p:nvSpPr>
        <p:spPr>
          <a:xfrm>
            <a:off x="2075688" y="30723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08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03504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2644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7" name="Oval 6"/>
          <p:cNvSpPr/>
          <p:nvPr/>
        </p:nvSpPr>
        <p:spPr>
          <a:xfrm>
            <a:off x="8549640" y="2148840"/>
            <a:ext cx="868680" cy="868680"/>
          </a:xfrm>
          <a:prstGeom prst="ellipse">
            <a:avLst/>
          </a:prstGeom>
          <a:solidFill>
            <a:srgbClr val="E14141"/>
          </a:solidFill>
          <a:ln>
            <a:solidFill>
              <a:srgbClr val="E1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757660" y="-265176"/>
            <a:ext cx="868680" cy="868680"/>
          </a:xfrm>
          <a:prstGeom prst="ellipse">
            <a:avLst/>
          </a:prstGeom>
          <a:solidFill>
            <a:srgbClr val="F5BE2D"/>
          </a:solidFill>
          <a:ln>
            <a:solidFill>
              <a:srgbClr val="F5B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974830" y="-521208"/>
            <a:ext cx="868680" cy="868680"/>
          </a:xfrm>
          <a:prstGeom prst="ellipse">
            <a:avLst/>
          </a:prstGeom>
          <a:solidFill>
            <a:srgbClr val="28AA5F"/>
          </a:solidFill>
          <a:ln>
            <a:solidFill>
              <a:srgbClr val="28A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789"/>
                </a:solidFill>
                <a:latin typeface="Aptos"/>
              </a:defRPr>
            </a:pPr>
            <a:r>
              <a:t>DIGITAL LOGIC • PROJECT 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018036-5CE3-ED8A-EB9A-9149615BA26C}"/>
              </a:ext>
            </a:extLst>
          </p:cNvPr>
          <p:cNvSpPr txBox="1"/>
          <p:nvPr/>
        </p:nvSpPr>
        <p:spPr>
          <a:xfrm>
            <a:off x="454914" y="1329893"/>
            <a:ext cx="61401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291"/>
                </a:solidFill>
                <a:latin typeface="Aptos Display"/>
              </a:defRPr>
            </a:pPr>
            <a:r>
              <a:rPr lang="en-IN" sz="2200" dirty="0"/>
              <a:t>Digital Data Transmission Error Detection System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4E42138F-5F9C-B531-FFE8-0D48363DD96A}"/>
              </a:ext>
            </a:extLst>
          </p:cNvPr>
          <p:cNvSpPr txBox="1"/>
          <p:nvPr/>
        </p:nvSpPr>
        <p:spPr>
          <a:xfrm>
            <a:off x="777240" y="2212848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300"/>
              </a:spcAft>
              <a:defRPr sz="1700">
                <a:solidFill>
                  <a:srgbClr val="2A3748"/>
                </a:solidFill>
                <a:latin typeface="Aptos"/>
              </a:defRPr>
            </a:pPr>
            <a:r>
              <a:t>Digital data is transmitted as binary bits (0s and 1s).</a:t>
            </a:r>
          </a:p>
          <a:p>
            <a:pPr>
              <a:spcAft>
                <a:spcPts val="1300"/>
              </a:spcAft>
              <a:defRPr sz="1700">
                <a:solidFill>
                  <a:srgbClr val="2A3748"/>
                </a:solidFill>
                <a:latin typeface="Aptos"/>
              </a:defRPr>
            </a:pPr>
            <a:r>
              <a:t>Noise or interference during transmission can change a bit and corrupt the received data.</a:t>
            </a:r>
          </a:p>
          <a:p>
            <a:pPr>
              <a:spcAft>
                <a:spcPts val="1300"/>
              </a:spcAft>
              <a:defRPr sz="1700">
                <a:solidFill>
                  <a:srgbClr val="2A3748"/>
                </a:solidFill>
                <a:latin typeface="Aptos"/>
              </a:defRPr>
            </a:pPr>
            <a:r>
              <a:t>This project uses XOR gates and parity checking to detect possible transmission errors.</a:t>
            </a:r>
          </a:p>
          <a:p>
            <a:pPr>
              <a:spcAft>
                <a:spcPts val="1300"/>
              </a:spcAft>
              <a:defRPr sz="1700">
                <a:solidFill>
                  <a:srgbClr val="2A3748"/>
                </a:solidFill>
                <a:latin typeface="Aptos"/>
              </a:defRPr>
            </a:pPr>
            <a:r>
              <a:t>A parity bit is added at the transmitter and checked at the receiver to indicate whether the parity condition is satisfied.</a:t>
            </a: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FADCCDA5-D970-A5A2-029E-52DCBA523585}"/>
              </a:ext>
            </a:extLst>
          </p:cNvPr>
          <p:cNvSpPr/>
          <p:nvPr/>
        </p:nvSpPr>
        <p:spPr>
          <a:xfrm>
            <a:off x="8069580" y="2125980"/>
            <a:ext cx="1828800" cy="914400"/>
          </a:xfrm>
          <a:prstGeom prst="roundRect">
            <a:avLst/>
          </a:prstGeom>
          <a:solidFill>
            <a:srgbClr val="122644"/>
          </a:solidFill>
          <a:ln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 lang="en-IN" dirty="0"/>
              <a:t>       </a:t>
            </a:r>
            <a:r>
              <a:rPr dirty="0"/>
              <a:t>XOR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C500F887-EF9B-8C58-3441-3915E76F9AC0}"/>
              </a:ext>
            </a:extLst>
          </p:cNvPr>
          <p:cNvSpPr/>
          <p:nvPr/>
        </p:nvSpPr>
        <p:spPr>
          <a:xfrm>
            <a:off x="8069580" y="3154680"/>
            <a:ext cx="2286000" cy="548640"/>
          </a:xfrm>
          <a:prstGeom prst="roundRect">
            <a:avLst/>
          </a:prstGeom>
          <a:solidFill>
            <a:srgbClr val="008291"/>
          </a:solidFill>
          <a:ln>
            <a:solidFill>
              <a:srgbClr val="00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          </a:t>
            </a:r>
            <a:r>
              <a:rPr dirty="0"/>
              <a:t>DATA</a:t>
            </a: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AC24CFE8-8F19-DCF1-512C-307AD6E85653}"/>
              </a:ext>
            </a:extLst>
          </p:cNvPr>
          <p:cNvSpPr/>
          <p:nvPr/>
        </p:nvSpPr>
        <p:spPr>
          <a:xfrm>
            <a:off x="8162544" y="3986784"/>
            <a:ext cx="2286000" cy="548640"/>
          </a:xfrm>
          <a:prstGeom prst="roundRect">
            <a:avLst/>
          </a:prstGeom>
          <a:solidFill>
            <a:srgbClr val="5F7088"/>
          </a:solidFill>
          <a:ln>
            <a:solidFill>
              <a:srgbClr val="5F7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   </a:t>
            </a:r>
            <a:r>
              <a:rPr dirty="0"/>
              <a:t>CHECK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900" b="1">
                <a:solidFill>
                  <a:srgbClr val="14253D"/>
                </a:solidFill>
                <a:latin typeface="Aptos"/>
              </a:rPr>
              <a:t>Why error detection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640080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100" b="0">
                <a:solidFill>
                  <a:srgbClr val="223041"/>
                </a:solidFill>
                <a:latin typeface="Aptos"/>
              </a:rPr>
              <a:t>Digital information travels as bits — 0s and 1s. During transmission, noise or interference can flip a bit and change the message.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2834640" cy="1097280"/>
          </a:xfrm>
          <a:prstGeom prst="roundRect">
            <a:avLst/>
          </a:prstGeom>
          <a:solidFill>
            <a:srgbClr val="CDEFE7"/>
          </a:solidFill>
          <a:ln>
            <a:solidFill>
              <a:srgbClr val="CD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2560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05E63"/>
                </a:solidFill>
                <a:latin typeface="Aptos"/>
              </a:rPr>
              <a:t>SENT:   1  0  1  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94760" y="3401568"/>
            <a:ext cx="1143000" cy="502920"/>
          </a:xfrm>
          <a:prstGeom prst="rightArrow">
            <a:avLst/>
          </a:prstGeom>
          <a:solidFill>
            <a:srgbClr val="ED6F5C"/>
          </a:solidFill>
          <a:ln>
            <a:solidFill>
              <a:srgbClr val="ED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66360" y="3154680"/>
            <a:ext cx="2834640" cy="1097280"/>
          </a:xfrm>
          <a:prstGeom prst="roundRect">
            <a:avLst/>
          </a:prstGeom>
          <a:solidFill>
            <a:srgbClr val="FFE2DA"/>
          </a:solidFill>
          <a:ln>
            <a:solidFill>
              <a:srgbClr val="FF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85232" y="3429000"/>
            <a:ext cx="2606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AB4133"/>
                </a:solidFill>
                <a:latin typeface="Aptos"/>
              </a:rPr>
              <a:t>RECEIVED: 1  0  0 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617720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D6F5C"/>
                </a:solidFill>
                <a:latin typeface="Aptos"/>
              </a:rPr>
              <a:t>One bit changed in transit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965960"/>
            <a:ext cx="2926080" cy="3200400"/>
          </a:xfrm>
          <a:prstGeom prst="roundRect">
            <a:avLst/>
          </a:prstGeom>
          <a:solidFill>
            <a:srgbClr val="14253D"/>
          </a:solidFill>
          <a:ln>
            <a:solidFill>
              <a:srgbClr val="14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2286000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4BE4B"/>
                </a:solidFill>
                <a:latin typeface="Aptos"/>
              </a:rPr>
              <a:t>PROJECT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286000" cy="1554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Build and simulate a simple parity-based circuit that flags whether received data may contain an error.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1">
                <a:solidFill>
                  <a:srgbClr val="647380"/>
                </a:solidFill>
                <a:latin typeface="Aptos"/>
              </a:rPr>
              <a:t>DIGITAL LOGIC • PROJECT PRESENTATION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4F051C-2410-756A-7E2F-C549651A35C1}"/>
              </a:ext>
            </a:extLst>
          </p:cNvPr>
          <p:cNvSpPr txBox="1"/>
          <p:nvPr/>
        </p:nvSpPr>
        <p:spPr>
          <a:xfrm>
            <a:off x="777240" y="6355080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000" b="1" dirty="0">
                <a:solidFill>
                  <a:srgbClr val="CDEFE7"/>
                </a:solidFill>
                <a:latin typeface="Aptos"/>
              </a:rPr>
              <a:t>10-SLIDE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900" b="1">
                <a:solidFill>
                  <a:srgbClr val="14253D"/>
                </a:solidFill>
                <a:latin typeface="Aptos"/>
              </a:rPr>
              <a:t>Parity checking in one minute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64008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000" b="0">
                <a:solidFill>
                  <a:srgbClr val="223041"/>
                </a:solidFill>
                <a:latin typeface="Aptos"/>
              </a:rPr>
              <a:t>A parity bit is an extra bit added to a data word so the total number of 1s follows a chosen rule.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07492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7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008F91"/>
                </a:solidFill>
                <a:latin typeface="Aptos"/>
              </a:rPr>
              <a:t>EVEN PARITY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20440"/>
            <a:ext cx="42976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000" b="0">
                <a:solidFill>
                  <a:srgbClr val="223041"/>
                </a:solidFill>
                <a:latin typeface="Aptos"/>
              </a:rPr>
              <a:t>Choose the parity bit so the total count of 1s is even.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43434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0">
                <a:solidFill>
                  <a:srgbClr val="647380"/>
                </a:solidFill>
                <a:latin typeface="Aptos"/>
              </a:rPr>
              <a:t>Example:  data 1011 has three 1s
Parity bit = 1  →  10111 has four 1s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743200"/>
            <a:ext cx="507492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7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3017520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ED6F5C"/>
                </a:solidFill>
                <a:latin typeface="Aptos"/>
              </a:rPr>
              <a:t>ODD PARITY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520440"/>
            <a:ext cx="42976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000" b="0">
                <a:solidFill>
                  <a:srgbClr val="223041"/>
                </a:solidFill>
                <a:latin typeface="Aptos"/>
              </a:rPr>
              <a:t>Choose the parity bit so the total count of 1s is odd.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434840"/>
            <a:ext cx="43434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0">
                <a:solidFill>
                  <a:srgbClr val="647380"/>
                </a:solidFill>
                <a:latin typeface="Aptos"/>
              </a:rPr>
              <a:t>Example:  data 1011 has three 1s
Parity bit = 0  →  10110 has three 1s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607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400" b="1">
                <a:solidFill>
                  <a:srgbClr val="005E63"/>
                </a:solidFill>
                <a:latin typeface="Aptos"/>
              </a:rPr>
              <a:t>This project demonstrates even parity; the same method can be adapted for odd parity.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1">
                <a:solidFill>
                  <a:srgbClr val="647380"/>
                </a:solidFill>
                <a:latin typeface="Aptos"/>
              </a:rPr>
              <a:t>DIGITAL LOGIC • PROJECT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900" b="1">
                <a:solidFill>
                  <a:srgbClr val="14253D"/>
                </a:solidFill>
                <a:latin typeface="Aptos"/>
              </a:rPr>
              <a:t>Why use the XOR gate?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67665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900" b="0">
                <a:solidFill>
                  <a:srgbClr val="223041"/>
                </a:solidFill>
                <a:latin typeface="Aptos"/>
              </a:rPr>
              <a:t>XOR outputs 1 when its inputs are different, and 0 when they are the same. Cascaded XOR gates calculate parity.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74320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74320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 ⊕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4480560" cy="457200"/>
          </a:xfrm>
          <a:prstGeom prst="roundRect">
            <a:avLst/>
          </a:prstGeom>
          <a:solidFill>
            <a:srgbClr val="14253D"/>
          </a:solidFill>
          <a:ln>
            <a:solidFill>
              <a:srgbClr val="14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223041"/>
                </a:solidFill>
                <a:latin typeface="Aptos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182112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223041"/>
                </a:solidFill>
                <a:latin typeface="Apto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182112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223041"/>
                </a:solidFill>
                <a:latin typeface="Aptos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575304"/>
            <a:ext cx="4069080" cy="13716"/>
          </a:xfrm>
          <a:prstGeom prst="rect">
            <a:avLst/>
          </a:prstGeom>
          <a:solidFill>
            <a:srgbClr val="E7EEEF"/>
          </a:solidFill>
          <a:ln>
            <a:solidFill>
              <a:srgbClr val="E7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712463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223041"/>
                </a:solidFill>
                <a:latin typeface="Apto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712463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8F91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712463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8F91"/>
                </a:solidFill>
                <a:latin typeface="Aptos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105655"/>
            <a:ext cx="4069080" cy="13716"/>
          </a:xfrm>
          <a:prstGeom prst="rect">
            <a:avLst/>
          </a:prstGeom>
          <a:solidFill>
            <a:srgbClr val="E7EEEF"/>
          </a:solidFill>
          <a:ln>
            <a:solidFill>
              <a:srgbClr val="E7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242816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8F91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242816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223041"/>
                </a:solidFill>
                <a:latin typeface="Apto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242816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8F91"/>
                </a:solidFill>
                <a:latin typeface="Aptos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636007"/>
            <a:ext cx="4069080" cy="13716"/>
          </a:xfrm>
          <a:prstGeom prst="rect">
            <a:avLst/>
          </a:prstGeom>
          <a:solidFill>
            <a:srgbClr val="E7EEEF"/>
          </a:solidFill>
          <a:ln>
            <a:solidFill>
              <a:srgbClr val="E7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773168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8F91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773168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8F91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773168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223041"/>
                </a:solidFill>
                <a:latin typeface="Aptos"/>
              </a:rPr>
              <a:t>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514600"/>
            <a:ext cx="2011680" cy="960120"/>
          </a:xfrm>
          <a:prstGeom prst="roundRect">
            <a:avLst/>
          </a:prstGeom>
          <a:solidFill>
            <a:srgbClr val="CDEFE7"/>
          </a:solidFill>
          <a:ln>
            <a:solidFill>
              <a:srgbClr val="CD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2770632"/>
            <a:ext cx="2011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005E63"/>
                </a:solidFill>
                <a:latin typeface="Aptos"/>
              </a:rPr>
              <a:t>A ⊕ B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32520" y="2743200"/>
            <a:ext cx="914400" cy="457200"/>
          </a:xfrm>
          <a:prstGeom prst="rightArrow">
            <a:avLst/>
          </a:prstGeom>
          <a:solidFill>
            <a:srgbClr val="ED6F5C"/>
          </a:solidFill>
          <a:ln>
            <a:solidFill>
              <a:srgbClr val="ED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921240" y="2514600"/>
            <a:ext cx="1417320" cy="960120"/>
          </a:xfrm>
          <a:prstGeom prst="roundRect">
            <a:avLst/>
          </a:prstGeom>
          <a:solidFill>
            <a:srgbClr val="14253D"/>
          </a:solidFill>
          <a:ln>
            <a:solidFill>
              <a:srgbClr val="14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21240" y="2770632"/>
            <a:ext cx="1417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0 /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977639"/>
            <a:ext cx="4846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647380"/>
                </a:solidFill>
                <a:latin typeface="Aptos"/>
              </a:rPr>
              <a:t>XOR is also called modulo-2 addition.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2356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700" b="1">
                <a:solidFill>
                  <a:srgbClr val="14253D"/>
                </a:solidFill>
                <a:latin typeface="Aptos"/>
              </a:rPr>
              <a:t>Parity bit for D3 D2 D1 D0 (even parity):  P = D3 ⊕ D2 ⊕ D1 ⊕ D0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1">
                <a:solidFill>
                  <a:srgbClr val="647380"/>
                </a:solidFill>
                <a:latin typeface="Aptos"/>
              </a:rPr>
              <a:t>DIGITAL LOGIC • PROJECT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900" b="1">
                <a:solidFill>
                  <a:srgbClr val="14253D"/>
                </a:solidFill>
                <a:latin typeface="Aptos"/>
              </a:rPr>
              <a:t>Transmitter-to-receiver block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14600"/>
            <a:ext cx="1417320" cy="1143000"/>
          </a:xfrm>
          <a:prstGeom prst="roundRect">
            <a:avLst/>
          </a:prstGeom>
          <a:solidFill>
            <a:srgbClr val="CDEFE7"/>
          </a:solidFill>
          <a:ln>
            <a:solidFill>
              <a:srgbClr val="CD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761488"/>
            <a:ext cx="1271016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4253D"/>
                </a:solidFill>
                <a:latin typeface="Aptos"/>
              </a:rPr>
              <a:t>DATA
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514600"/>
            <a:ext cx="1828800" cy="1143000"/>
          </a:xfrm>
          <a:prstGeom prst="roundRect">
            <a:avLst/>
          </a:prstGeom>
          <a:solidFill>
            <a:srgbClr val="FFE7BE"/>
          </a:solidFill>
          <a:ln>
            <a:solidFill>
              <a:srgbClr val="FF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53512" y="2761488"/>
            <a:ext cx="1682496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4253D"/>
                </a:solidFill>
                <a:latin typeface="Aptos"/>
              </a:rPr>
              <a:t>XOR PARITY
GENERATOR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2514600"/>
            <a:ext cx="1417320" cy="1143000"/>
          </a:xfrm>
          <a:prstGeom prst="roundRect">
            <a:avLst/>
          </a:prstGeom>
          <a:solidFill>
            <a:srgbClr val="FFE2DA"/>
          </a:solidFill>
          <a:ln>
            <a:solidFill>
              <a:srgbClr val="FF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05272" y="2761488"/>
            <a:ext cx="1271016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4253D"/>
                </a:solidFill>
                <a:latin typeface="Aptos"/>
              </a:rPr>
              <a:t>TRANSMISSION
CHANNEL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514600"/>
            <a:ext cx="1828800" cy="1143000"/>
          </a:xfrm>
          <a:prstGeom prst="roundRect">
            <a:avLst/>
          </a:prstGeom>
          <a:solidFill>
            <a:srgbClr val="CDEFE7"/>
          </a:solidFill>
          <a:ln>
            <a:solidFill>
              <a:srgbClr val="CD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2761488"/>
            <a:ext cx="1682496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4253D"/>
                </a:solidFill>
                <a:latin typeface="Aptos"/>
              </a:rPr>
              <a:t>XOR PARITY
CHECKER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0" y="2514600"/>
            <a:ext cx="1417320" cy="1143000"/>
          </a:xfrm>
          <a:prstGeom prst="roundRect">
            <a:avLst/>
          </a:prstGeom>
          <a:solidFill>
            <a:srgbClr val="14253D"/>
          </a:solidFill>
          <a:ln>
            <a:solidFill>
              <a:srgbClr val="14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60152" y="2761488"/>
            <a:ext cx="1271016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194560" y="2834640"/>
            <a:ext cx="502920" cy="411480"/>
          </a:xfrm>
          <a:prstGeom prst="rightArrow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4800600" y="2834640"/>
            <a:ext cx="502920" cy="411480"/>
          </a:xfrm>
          <a:prstGeom prst="rightArrow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7452360" y="2834640"/>
            <a:ext cx="502920" cy="411480"/>
          </a:xfrm>
          <a:prstGeom prst="rightArrow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10058400" y="2834640"/>
            <a:ext cx="502920" cy="411480"/>
          </a:xfrm>
          <a:prstGeom prst="rightArrow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10424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0">
                <a:solidFill>
                  <a:srgbClr val="223041"/>
                </a:solidFill>
                <a:latin typeface="Aptos"/>
              </a:rPr>
              <a:t>At the sender, the parity generator appends one bit. At the receiver, the checker evaluates the received data and parity bit.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5257800"/>
            <a:ext cx="3657600" cy="594360"/>
          </a:xfrm>
          <a:prstGeom prst="roundRect">
            <a:avLst/>
          </a:prstGeom>
          <a:solidFill>
            <a:srgbClr val="CDEFE7"/>
          </a:solidFill>
          <a:ln>
            <a:solidFill>
              <a:srgbClr val="CD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20240" y="5404104"/>
            <a:ext cx="3474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05E63"/>
                </a:solidFill>
                <a:latin typeface="Aptos"/>
              </a:rPr>
              <a:t>Checker output 0 → parity condition satisfied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5257800"/>
            <a:ext cx="3657600" cy="594360"/>
          </a:xfrm>
          <a:prstGeom prst="roundRect">
            <a:avLst/>
          </a:prstGeom>
          <a:solidFill>
            <a:srgbClr val="FFE2DA"/>
          </a:solidFill>
          <a:ln>
            <a:solidFill>
              <a:srgbClr val="FF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5404104"/>
            <a:ext cx="3474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AB4133"/>
                </a:solidFill>
                <a:latin typeface="Aptos"/>
              </a:rPr>
              <a:t>Checker output 1 → error detected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1">
                <a:solidFill>
                  <a:srgbClr val="647380"/>
                </a:solidFill>
                <a:latin typeface="Aptos"/>
              </a:rPr>
              <a:t>DIGITAL LOGIC • PROJECT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900" b="1">
                <a:solidFill>
                  <a:srgbClr val="14253D"/>
                </a:solidFill>
                <a:latin typeface="Aptos"/>
              </a:rPr>
              <a:t>Parity generator and checker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9377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000" b="1">
                <a:solidFill>
                  <a:srgbClr val="14253D"/>
                </a:solidFill>
                <a:latin typeface="Aptos"/>
              </a:rPr>
              <a:t>Example: 4-bit data = 1 0 1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23160"/>
            <a:ext cx="1965960" cy="822960"/>
          </a:xfrm>
          <a:prstGeom prst="roundRect">
            <a:avLst/>
          </a:prstGeom>
          <a:solidFill>
            <a:srgbClr val="CDEFE7"/>
          </a:solidFill>
          <a:ln>
            <a:solidFill>
              <a:srgbClr val="CD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633472"/>
            <a:ext cx="1783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5E63"/>
                </a:solidFill>
                <a:latin typeface="Aptos"/>
              </a:rPr>
              <a:t>D3 D2 D1 D0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71800" y="2633472"/>
            <a:ext cx="685800" cy="365760"/>
          </a:xfrm>
          <a:prstGeom prst="rightArrow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86200" y="2423160"/>
            <a:ext cx="2148840" cy="822960"/>
          </a:xfrm>
          <a:prstGeom prst="roundRect">
            <a:avLst/>
          </a:prstGeom>
          <a:solidFill>
            <a:srgbClr val="FFE7BE"/>
          </a:solidFill>
          <a:ln>
            <a:solidFill>
              <a:srgbClr val="FF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77639" y="2633472"/>
            <a:ext cx="1965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14253D"/>
                </a:solidFill>
                <a:latin typeface="Aptos"/>
              </a:rPr>
              <a:t>P = XOR of bits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09360" y="2633472"/>
            <a:ext cx="685800" cy="365760"/>
          </a:xfrm>
          <a:prstGeom prst="rightArrow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223760" y="2423160"/>
            <a:ext cx="2148840" cy="822960"/>
          </a:xfrm>
          <a:prstGeom prst="roundRect">
            <a:avLst/>
          </a:prstGeom>
          <a:solidFill>
            <a:srgbClr val="14253D"/>
          </a:solidFill>
          <a:ln>
            <a:solidFill>
              <a:srgbClr val="14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2633472"/>
            <a:ext cx="1965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Transmit 10111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104241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800" b="0">
                <a:solidFill>
                  <a:srgbClr val="223041"/>
                </a:solidFill>
                <a:latin typeface="Aptos"/>
              </a:rPr>
              <a:t>For 1011, there are three 1s. Even parity requires P = 1, so the transmitted word has four 1s.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709160"/>
            <a:ext cx="4846320" cy="822960"/>
          </a:xfrm>
          <a:prstGeom prst="roundRect">
            <a:avLst/>
          </a:prstGeom>
          <a:solidFill>
            <a:srgbClr val="CDEFE7"/>
          </a:solidFill>
          <a:ln>
            <a:solidFill>
              <a:srgbClr val="CD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919472"/>
            <a:ext cx="4480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005E63"/>
                </a:solidFill>
                <a:latin typeface="Aptos"/>
              </a:rPr>
              <a:t>Receiver XORs all 5 received bits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97880" y="4919472"/>
            <a:ext cx="731520" cy="365760"/>
          </a:xfrm>
          <a:prstGeom prst="rightArrow">
            <a:avLst/>
          </a:prstGeom>
          <a:solidFill>
            <a:srgbClr val="ED6F5C"/>
          </a:solidFill>
          <a:ln>
            <a:solidFill>
              <a:srgbClr val="ED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903720" y="4709160"/>
            <a:ext cx="3931920" cy="822960"/>
          </a:xfrm>
          <a:prstGeom prst="roundRect">
            <a:avLst/>
          </a:prstGeom>
          <a:solidFill>
            <a:srgbClr val="FFE2DA"/>
          </a:solidFill>
          <a:ln>
            <a:solidFill>
              <a:srgbClr val="FF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4919472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AB4133"/>
                </a:solidFill>
                <a:latin typeface="Aptos"/>
              </a:rPr>
              <a:t>0 = parity OK  |  1 = error flag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1">
                <a:solidFill>
                  <a:srgbClr val="647380"/>
                </a:solidFill>
                <a:latin typeface="Aptos"/>
              </a:rPr>
              <a:t>DIGITAL LOGIC • PROJECT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900" b="1">
                <a:solidFill>
                  <a:srgbClr val="14253D"/>
                </a:solidFill>
                <a:latin typeface="Aptos"/>
              </a:rPr>
              <a:t>Test cases and expected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Sent 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82880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Received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82880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Checker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82880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37360"/>
            <a:ext cx="10881360" cy="502920"/>
          </a:xfrm>
          <a:prstGeom prst="roundRect">
            <a:avLst/>
          </a:prstGeom>
          <a:solidFill>
            <a:srgbClr val="14253D"/>
          </a:solidFill>
          <a:ln>
            <a:solidFill>
              <a:srgbClr val="14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350008"/>
            <a:ext cx="108813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7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6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08F91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2316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223041"/>
                </a:solidFill>
                <a:latin typeface="Aptos"/>
              </a:rPr>
              <a:t>10111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42316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223041"/>
                </a:solidFill>
                <a:latin typeface="Aptos"/>
              </a:rPr>
              <a:t>10111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42316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08F91"/>
                </a:solidFill>
                <a:latin typeface="Apto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42316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223041"/>
                </a:solidFill>
                <a:latin typeface="Aptos"/>
              </a:rPr>
              <a:t>Parity 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81528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223041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081528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223041"/>
                </a:solidFill>
                <a:latin typeface="Aptos"/>
              </a:rPr>
              <a:t>10111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081528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223041"/>
                </a:solidFill>
                <a:latin typeface="Aptos"/>
              </a:rPr>
              <a:t>10011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081528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08F91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081528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223041"/>
                </a:solidFill>
                <a:latin typeface="Aptos"/>
              </a:rPr>
              <a:t>Error flagged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666744"/>
            <a:ext cx="108813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7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739896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223041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739896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223041"/>
                </a:solidFill>
                <a:latin typeface="Aptos"/>
              </a:rPr>
              <a:t>10111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739896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223041"/>
                </a:solidFill>
                <a:latin typeface="Aptos"/>
              </a:rPr>
              <a:t>00111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739896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08F91"/>
                </a:solidFill>
                <a:latin typeface="Apto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739896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223041"/>
                </a:solidFill>
                <a:latin typeface="Aptos"/>
              </a:rPr>
              <a:t>Error flagged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398264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223041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398264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223041"/>
                </a:solidFill>
                <a:latin typeface="Aptos"/>
              </a:rPr>
              <a:t>10111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398264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223041"/>
                </a:solidFill>
                <a:latin typeface="Aptos"/>
              </a:rPr>
              <a:t>10001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4398264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08F91"/>
                </a:solidFill>
                <a:latin typeface="Aptos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398264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223041"/>
                </a:solidFill>
                <a:latin typeface="Aptos"/>
              </a:rPr>
              <a:t>Not detected*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349240"/>
            <a:ext cx="104241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1">
                <a:solidFill>
                  <a:srgbClr val="ED6F5C"/>
                </a:solidFill>
                <a:latin typeface="Aptos"/>
              </a:rPr>
              <a:t>*Two bits flipped in case 4, so even parity remains unchanged. Parity detects any odd number of bit flips, but may miss an even number.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1">
                <a:solidFill>
                  <a:srgbClr val="647380"/>
                </a:solidFill>
                <a:latin typeface="Aptos"/>
              </a:rPr>
              <a:t>DIGITAL LOGIC • PROJECT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900" b="1">
                <a:solidFill>
                  <a:srgbClr val="14253D"/>
                </a:solidFill>
                <a:latin typeface="Aptos"/>
              </a:rPr>
              <a:t>Simulation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2084832"/>
            <a:ext cx="640080" cy="640080"/>
          </a:xfrm>
          <a:prstGeom prst="ellipse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22199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29968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900" b="1">
                <a:solidFill>
                  <a:srgbClr val="14253D"/>
                </a:solidFill>
                <a:latin typeface="Aptos"/>
              </a:rP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23160"/>
            <a:ext cx="3657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0">
                <a:solidFill>
                  <a:srgbClr val="647380"/>
                </a:solidFill>
                <a:latin typeface="Aptos"/>
              </a:rPr>
              <a:t>Place XOR gates and connect data inputs.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8288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83679" y="2084832"/>
            <a:ext cx="640080" cy="640080"/>
          </a:xfrm>
          <a:prstGeom prst="ellipse">
            <a:avLst/>
          </a:prstGeom>
          <a:solidFill>
            <a:srgbClr val="ED6F5C"/>
          </a:solidFill>
          <a:ln>
            <a:solidFill>
              <a:srgbClr val="ED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79" y="222199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029968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900" b="1">
                <a:solidFill>
                  <a:srgbClr val="14253D"/>
                </a:solidFill>
                <a:latin typeface="Aptos"/>
              </a:rPr>
              <a:t>Generate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423160"/>
            <a:ext cx="3657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0">
                <a:solidFill>
                  <a:srgbClr val="647380"/>
                </a:solidFill>
                <a:latin typeface="Aptos"/>
              </a:rPr>
              <a:t>Cascade XOR gates to produce the parity bit.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204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05840" y="3776472"/>
            <a:ext cx="640080" cy="640080"/>
          </a:xfrm>
          <a:prstGeom prst="ellipse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9136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21608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900" b="1">
                <a:solidFill>
                  <a:srgbClr val="14253D"/>
                </a:solidFill>
                <a:latin typeface="Aptos"/>
              </a:rPr>
              <a:t>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114800"/>
            <a:ext cx="3657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0">
                <a:solidFill>
                  <a:srgbClr val="647380"/>
                </a:solidFill>
                <a:latin typeface="Aptos"/>
              </a:rPr>
              <a:t>Connect received data and parity to the checker.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204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7E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83679" y="3776472"/>
            <a:ext cx="640080" cy="640080"/>
          </a:xfrm>
          <a:prstGeom prst="ellipse">
            <a:avLst/>
          </a:prstGeom>
          <a:solidFill>
            <a:srgbClr val="ED6F5C"/>
          </a:solidFill>
          <a:ln>
            <a:solidFill>
              <a:srgbClr val="ED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79" y="3913632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721608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900" b="1">
                <a:solidFill>
                  <a:srgbClr val="14253D"/>
                </a:solidFill>
                <a:latin typeface="Aptos"/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114800"/>
            <a:ext cx="3657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0">
                <a:solidFill>
                  <a:srgbClr val="647380"/>
                </a:solidFill>
                <a:latin typeface="Aptos"/>
              </a:rPr>
              <a:t>Apply input combinations and observe the output.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23560"/>
            <a:ext cx="10424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05E63"/>
                </a:solidFill>
                <a:latin typeface="Aptos"/>
              </a:rPr>
              <a:t>Suggested tools: Logisim Evolution or another digital logic simulator.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1">
                <a:solidFill>
                  <a:srgbClr val="647380"/>
                </a:solidFill>
                <a:latin typeface="Aptos"/>
              </a:rPr>
              <a:t>DIGITAL LOGIC • PROJECT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900" b="1">
                <a:solidFill>
                  <a:srgbClr val="14253D"/>
                </a:solidFill>
                <a:latin typeface="Aptos"/>
              </a:rPr>
              <a:t>What the project demonstrates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474720" cy="2560320"/>
          </a:xfrm>
          <a:prstGeom prst="roundRect">
            <a:avLst/>
          </a:prstGeom>
          <a:solidFill>
            <a:srgbClr val="CDEFE7"/>
          </a:solidFill>
          <a:ln>
            <a:solidFill>
              <a:srgbClr val="CD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05E63"/>
                </a:solidFill>
                <a:latin typeface="Aptos"/>
              </a:rPr>
              <a:t>WHAT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28346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0">
                <a:solidFill>
                  <a:srgbClr val="14253D"/>
                </a:solidFill>
                <a:latin typeface="Aptos"/>
              </a:rPr>
              <a:t>XOR gates generate and verify parity with a small, easy-to-follow circuit.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057400"/>
            <a:ext cx="3474720" cy="2560320"/>
          </a:xfrm>
          <a:prstGeom prst="roundRect">
            <a:avLst/>
          </a:prstGeom>
          <a:solidFill>
            <a:srgbClr val="FFE7BE"/>
          </a:solidFill>
          <a:ln>
            <a:solidFill>
              <a:srgbClr val="FF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2395728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4253D"/>
                </a:solidFill>
                <a:latin typeface="Aptos"/>
              </a:rPr>
              <a:t>WHAT IT CAN'T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063240"/>
            <a:ext cx="28346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0">
                <a:solidFill>
                  <a:srgbClr val="14253D"/>
                </a:solidFill>
                <a:latin typeface="Aptos"/>
              </a:rPr>
              <a:t>Parity does not identify which bit changed and cannot correct the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057400"/>
            <a:ext cx="3474720" cy="2560320"/>
          </a:xfrm>
          <a:prstGeom prst="roundRect">
            <a:avLst/>
          </a:prstGeom>
          <a:solidFill>
            <a:srgbClr val="FFE2DA"/>
          </a:solidFill>
          <a:ln>
            <a:solidFill>
              <a:srgbClr val="FF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0" y="2395728"/>
            <a:ext cx="3017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AB4133"/>
                </a:solidFill>
                <a:latin typeface="Aptos"/>
              </a:rPr>
              <a:t>KEY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063240"/>
            <a:ext cx="2834640" cy="1143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0">
                <a:solidFill>
                  <a:srgbClr val="14253D"/>
                </a:solidFill>
                <a:latin typeface="Aptos"/>
              </a:rPr>
              <a:t>An even number of bit flips can go undetected; parity is a basic error-detection method.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800" b="1">
                <a:solidFill>
                  <a:srgbClr val="008F91"/>
                </a:solidFill>
                <a:latin typeface="Aptos"/>
              </a:rP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8640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800" b="0">
                <a:solidFill>
                  <a:srgbClr val="223041"/>
                </a:solidFill>
                <a:latin typeface="Aptos"/>
              </a:rPr>
              <a:t>The simulation shows how a simple logic-gate circuit can add a useful integrity check to digital communication.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1">
                <a:solidFill>
                  <a:srgbClr val="647380"/>
                </a:solidFill>
                <a:latin typeface="Aptos"/>
              </a:rPr>
              <a:t>DIGITAL LOGIC • PROJECT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280160" y="4480560"/>
            <a:ext cx="3840480" cy="3840480"/>
          </a:xfrm>
          <a:prstGeom prst="ellipse">
            <a:avLst/>
          </a:prstGeom>
          <a:solidFill>
            <a:srgbClr val="008F91"/>
          </a:solidFill>
          <a:ln>
            <a:solidFill>
              <a:srgbClr val="00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235440" y="-1188720"/>
            <a:ext cx="4114800" cy="4114800"/>
          </a:xfrm>
          <a:prstGeom prst="ellipse">
            <a:avLst/>
          </a:prstGeom>
          <a:solidFill>
            <a:srgbClr val="ED6F5C"/>
          </a:solidFill>
          <a:ln>
            <a:solidFill>
              <a:srgbClr val="ED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5120640"/>
            <a:ext cx="914400" cy="914400"/>
          </a:xfrm>
          <a:prstGeom prst="ellipse">
            <a:avLst/>
          </a:prstGeom>
          <a:solidFill>
            <a:srgbClr val="F4BE4B"/>
          </a:solidFill>
          <a:ln>
            <a:solidFill>
              <a:srgbClr val="F4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3327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0">
                <a:solidFill>
                  <a:srgbClr val="CDEFE7"/>
                </a:solidFill>
                <a:latin typeface="Aptos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32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Digital Data Transmission • XOR Parity Error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761</Words>
  <Application>Microsoft Office PowerPoint</Application>
  <PresentationFormat>Widescreen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Bheemavarapu Sandeep</dc:creator>
  <cp:keywords/>
  <dc:description>generated using python-pptx</dc:description>
  <cp:lastModifiedBy>Bheemavarapu Sandeep</cp:lastModifiedBy>
  <cp:revision>3</cp:revision>
  <dcterms:created xsi:type="dcterms:W3CDTF">2013-01-27T09:14:16Z</dcterms:created>
  <dcterms:modified xsi:type="dcterms:W3CDTF">2026-10-14T16:48:11Z</dcterms:modified>
  <cp:category/>
</cp:coreProperties>
</file>